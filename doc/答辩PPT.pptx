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199d42a67344f8" /><Relationship Type="http://schemas.openxmlformats.org/officeDocument/2006/relationships/extended-properties" Target="/docProps/app.xml" Id="Re4f1a6935b77463a" /><Relationship Type="http://schemas.openxmlformats.org/officeDocument/2006/relationships/officeDocument" Target="/ppt/presentation.xml" Id="Rf225ac6e453442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fa16ff14be4b0f"/>
  </p:sldMasterIdLst>
  <p:notesMasterIdLst>
    <p:notesMasterId xmlns:r="http://schemas.openxmlformats.org/officeDocument/2006/relationships" r:id="R75f17901b52e463d"/>
  </p:notesMasterIdLst>
  <p:sldIdLst>
    <p:sldId xmlns:r="http://schemas.openxmlformats.org/officeDocument/2006/relationships" id="256" r:id="R52b1967fa1ab44e9"/>
    <p:sldId xmlns:r="http://schemas.openxmlformats.org/officeDocument/2006/relationships" id="257" r:id="Rdad306d1f7694109"/>
    <p:sldId xmlns:r="http://schemas.openxmlformats.org/officeDocument/2006/relationships" id="258" r:id="Ra4ebec78ffad4823"/>
    <p:sldId xmlns:r="http://schemas.openxmlformats.org/officeDocument/2006/relationships" id="259" r:id="R52758db574be414a"/>
    <p:sldId xmlns:r="http://schemas.openxmlformats.org/officeDocument/2006/relationships" id="260" r:id="Rd31ba8d1ae1f4982"/>
    <p:sldId xmlns:r="http://schemas.openxmlformats.org/officeDocument/2006/relationships" id="261" r:id="Rfa1bfe23be224ae0"/>
    <p:sldId xmlns:r="http://schemas.openxmlformats.org/officeDocument/2006/relationships" id="262" r:id="R3e95ddbecb7a4606"/>
    <p:sldId xmlns:r="http://schemas.openxmlformats.org/officeDocument/2006/relationships" id="263" r:id="R340e80c1bd0642cb"/>
    <p:sldId xmlns:r="http://schemas.openxmlformats.org/officeDocument/2006/relationships" id="264" r:id="R1383bd30fccc4699"/>
    <p:sldId xmlns:r="http://schemas.openxmlformats.org/officeDocument/2006/relationships" id="265" r:id="R2aba602066fa49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007048b43640bf" /><Relationship Type="http://schemas.openxmlformats.org/officeDocument/2006/relationships/slideMaster" Target="/ppt/slideMasters/slideMaster1.xml" Id="R9afa16ff14be4b0f" /><Relationship Type="http://schemas.openxmlformats.org/officeDocument/2006/relationships/notesMaster" Target="/ppt/notesMasters/notesMaster1.xml" Id="R75f17901b52e463d" /><Relationship Type="http://schemas.openxmlformats.org/officeDocument/2006/relationships/presProps" Target="/ppt/presProps.xml" Id="R184810af04e94a6e" /><Relationship Type="http://schemas.openxmlformats.org/officeDocument/2006/relationships/tableStyles" Target="/ppt/tableStyles.xml" Id="R58f860208e73451a" /><Relationship Type="http://schemas.openxmlformats.org/officeDocument/2006/relationships/slide" Target="/ppt/slides/slide1.xml" Id="R52b1967fa1ab44e9" /><Relationship Type="http://schemas.openxmlformats.org/officeDocument/2006/relationships/slide" Target="/ppt/slides/slide2.xml" Id="Rdad306d1f7694109" /><Relationship Type="http://schemas.openxmlformats.org/officeDocument/2006/relationships/slide" Target="/ppt/slides/slide3.xml" Id="Ra4ebec78ffad4823" /><Relationship Type="http://schemas.openxmlformats.org/officeDocument/2006/relationships/slide" Target="/ppt/slides/slide4.xml" Id="R52758db574be414a" /><Relationship Type="http://schemas.openxmlformats.org/officeDocument/2006/relationships/slide" Target="/ppt/slides/slide5.xml" Id="Rd31ba8d1ae1f4982" /><Relationship Type="http://schemas.openxmlformats.org/officeDocument/2006/relationships/slide" Target="/ppt/slides/slide6.xml" Id="Rfa1bfe23be224ae0" /><Relationship Type="http://schemas.openxmlformats.org/officeDocument/2006/relationships/slide" Target="/ppt/slides/slide7.xml" Id="R3e95ddbecb7a4606" /><Relationship Type="http://schemas.openxmlformats.org/officeDocument/2006/relationships/slide" Target="/ppt/slides/slide8.xml" Id="R340e80c1bd0642cb" /><Relationship Type="http://schemas.openxmlformats.org/officeDocument/2006/relationships/slide" Target="/ppt/slides/slide9.xml" Id="R1383bd30fccc4699" /><Relationship Type="http://schemas.openxmlformats.org/officeDocument/2006/relationships/slide" Target="/ppt/slides/slide10.xml" Id="R2aba602066fa49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9fc5eafdb94c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e21f40bd2b4b86" /><Relationship Type="http://schemas.openxmlformats.org/officeDocument/2006/relationships/notesMaster" Target="/ppt/notesMasters/notesMaster1.xml" Id="R986e573507bc46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3c6bb29eb7499b" /><Relationship Type="http://schemas.openxmlformats.org/officeDocument/2006/relationships/notesMaster" Target="/ppt/notesMasters/notesMaster1.xml" Id="Rd1cd343d2a5742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023c9001e140c2" /><Relationship Type="http://schemas.openxmlformats.org/officeDocument/2006/relationships/notesMaster" Target="/ppt/notesMasters/notesMaster1.xml" Id="R033ffd96574240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c8cd1a7af6404c" /><Relationship Type="http://schemas.openxmlformats.org/officeDocument/2006/relationships/notesMaster" Target="/ppt/notesMasters/notesMaster1.xml" Id="R0cd293f8a1b44f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d926fdfb98417b" /><Relationship Type="http://schemas.openxmlformats.org/officeDocument/2006/relationships/notesMaster" Target="/ppt/notesMasters/notesMaster1.xml" Id="R28c2d86e21b44b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f60a62def440f7" /><Relationship Type="http://schemas.openxmlformats.org/officeDocument/2006/relationships/notesMaster" Target="/ppt/notesMasters/notesMaster1.xml" Id="R50cde12065d342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fa278f90f44f36" /><Relationship Type="http://schemas.openxmlformats.org/officeDocument/2006/relationships/notesMaster" Target="/ppt/notesMasters/notesMaster1.xml" Id="R79f1f368b9df46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89af4d182649ef" /><Relationship Type="http://schemas.openxmlformats.org/officeDocument/2006/relationships/notesMaster" Target="/ppt/notesMasters/notesMaster1.xml" Id="Re31ddc3378a046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a1930a350d4868" /><Relationship Type="http://schemas.openxmlformats.org/officeDocument/2006/relationships/notesMaster" Target="/ppt/notesMasters/notesMaster1.xml" Id="R1c8189f730eb4f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c1290d10d04982" /><Relationship Type="http://schemas.openxmlformats.org/officeDocument/2006/relationships/notesMaster" Target="/ppt/notesMasters/notesMaster1.xml" Id="Ra3f721078b0744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521e4917c9422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8567d35c1143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1a2ef45eb457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2622dc7214406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cca9d4bc8f4fc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60ac3562e744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4AB28E-1FA5-40D2-9C3A-5C35D12516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5CD2191-CA7E-42F5-96B5-48543654F4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95BF5AE-8E68-4B29-8B16-BF2C709121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9228C2-A9A9-4CCB-A703-4CBD5A41C8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3846D1B-1F1B-4F70-86C8-2ECAE46FC9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0B135B-8582-4AEF-815F-258BD9B8A2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0BF921-0F81-49D5-B937-2E71F05FD2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F5C412E-1ED2-4C20-810B-E8F89CFC1F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B15218-8909-478A-B5AF-4CCDFFB0B7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09A3BE-A8AF-4F39-8507-44D222F423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dd7563ceaf4d50" /><Relationship Type="http://schemas.openxmlformats.org/officeDocument/2006/relationships/slideLayout" Target="/ppt/slideLayouts/slideLayout1.xml" Id="Rf210710508cd464a" /><Relationship Type="http://schemas.openxmlformats.org/officeDocument/2006/relationships/slideLayout" Target="/ppt/slideLayouts/slideLayout2.xml" Id="Rbea7d34492ba4e5c" /><Relationship Type="http://schemas.openxmlformats.org/officeDocument/2006/relationships/slideLayout" Target="/ppt/slideLayouts/slideLayout3.xml" Id="Re9a0a5f0df324705" /><Relationship Type="http://schemas.openxmlformats.org/officeDocument/2006/relationships/slideLayout" Target="/ppt/slideLayouts/slideLayout4.xml" Id="Rf698e0ab7e88488f" /><Relationship Type="http://schemas.openxmlformats.org/officeDocument/2006/relationships/slideLayout" Target="/ppt/slideLayouts/slideLayout5.xml" Id="R11d716d7f26247e5" /><Relationship Type="http://schemas.openxmlformats.org/officeDocument/2006/relationships/slideLayout" Target="/ppt/slideLayouts/slideLayout6.xml" Id="R0ab59e3cea2444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10710508cd464a"/>
    <p:sldLayoutId xmlns:r="http://schemas.openxmlformats.org/officeDocument/2006/relationships" id="2147483650" r:id="Rbea7d34492ba4e5c"/>
    <p:sldLayoutId xmlns:r="http://schemas.openxmlformats.org/officeDocument/2006/relationships" id="2147483651" r:id="Re9a0a5f0df324705"/>
    <p:sldLayoutId xmlns:r="http://schemas.openxmlformats.org/officeDocument/2006/relationships" id="2147483652" r:id="Rf698e0ab7e88488f"/>
    <p:sldLayoutId xmlns:r="http://schemas.openxmlformats.org/officeDocument/2006/relationships" id="2147483653" r:id="R11d716d7f26247e5"/>
    <p:sldLayoutId xmlns:r="http://schemas.openxmlformats.org/officeDocument/2006/relationships" id="2147483654" r:id="R0ab59e3cea2444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78592e1be84b0e" /><Relationship Type="http://schemas.openxmlformats.org/officeDocument/2006/relationships/notesSlide" Target="/ppt/notesSlides/notesSlide1.xml" Id="Rddbe82228e3145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08ccb593d24cc9" /><Relationship Type="http://schemas.openxmlformats.org/officeDocument/2006/relationships/notesSlide" Target="/ppt/notesSlides/notesSlide2.xml" Id="R77a7a8e8509a4c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9149f589354f07" /><Relationship Type="http://schemas.openxmlformats.org/officeDocument/2006/relationships/notesSlide" Target="/ppt/notesSlides/notesSlide3.xml" Id="Rd6cc50b2d8df4e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6b40d0b39c410a" /><Relationship Type="http://schemas.openxmlformats.org/officeDocument/2006/relationships/image" Target="/ppt/media/image.png" Id="R7a058ca17fb54ce9" /><Relationship Type="http://schemas.openxmlformats.org/officeDocument/2006/relationships/notesSlide" Target="/ppt/notesSlides/notesSlide4.xml" Id="R815a28d87bb446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6887e62d1741cc" /><Relationship Type="http://schemas.openxmlformats.org/officeDocument/2006/relationships/notesSlide" Target="/ppt/notesSlides/notesSlide5.xml" Id="R18037509adef4e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594f42401749da" /><Relationship Type="http://schemas.openxmlformats.org/officeDocument/2006/relationships/notesSlide" Target="/ppt/notesSlides/notesSlide6.xml" Id="R5383670828c048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14071f5a884c98" /><Relationship Type="http://schemas.openxmlformats.org/officeDocument/2006/relationships/image" Target="/ppt/media/image2.png" Id="R182586097dc34d89" /><Relationship Type="http://schemas.openxmlformats.org/officeDocument/2006/relationships/notesSlide" Target="/ppt/notesSlides/notesSlide7.xml" Id="Ra8ee0ca8440840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cef4cee0b64a3a" /><Relationship Type="http://schemas.openxmlformats.org/officeDocument/2006/relationships/notesSlide" Target="/ppt/notesSlides/notesSlide8.xml" Id="Rbe01d0f1476b4c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94d1bd42de4c52" /><Relationship Type="http://schemas.openxmlformats.org/officeDocument/2006/relationships/notesSlide" Target="/ppt/notesSlides/notesSlide9.xml" Id="Rb9e207f0d63d43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cc958fec894e8d" /><Relationship Type="http://schemas.openxmlformats.org/officeDocument/2006/relationships/notesSlide" Target="/ppt/notesSlides/notesSlide10.xml" Id="R4f714e02058949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87C6A-1994-483B-905B-F32B2EAE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0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rPr>
              <a:t>洛阳理工学院 · 电商经营分析平台实训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908EF-C534-4FB0-A293-41D73541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5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第2组 · 运动品类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F86E5-11EE-4E96-9E8B-9ABFABE6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25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从贴源数据到经营大屏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C8E2C-6E20-4E16-BB59-170DF809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rPr>
              <a:t>13 ODS  ·  6 DIM  ·  10 DWD  ·  18 DWS  ·  16 ADS  ·  3 ML  ·  30 指标  ·  20 API  ·  12 图表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E09DF-FC1E-4AF1-A174-A3AF072D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99A50-47F8-4D84-9C1B-9478FD69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数据工程 · 数仓建模 · 机器学习 · 可视化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B7793-434F-4913-924B-69653644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rPr>
              <a:t>答辩人：组长 / Coder A / Coder B   ·   2026-10</a:t>
            </a:r>
          </a:p>
        </p:txBody>
      </p:sp>
    </p:spTree>
    <p:extLst>
      <p:ext uri="{BB962C8B-B14F-4D97-AF65-F5344CB8AC3E}">
        <p14:creationId xmlns:p14="http://schemas.microsoft.com/office/powerpoint/2010/main" val="17780891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663DA-1FFA-4BCD-B2A6-EB6D2A83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rPr>
              <a:t>01 / 品类特征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C6521-4AB9-424C-8818-80FBBB07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运动品类：男性为主，品牌集中，客单价中高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A9FD4-0164-47FA-9EB9-C691F8EE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4A015-0F99-426B-9F42-793D3695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rPr>
              <a:t>68%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084A9-A2F2-4384-B3DF-A3C33AC1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rPr>
              <a:t>男性用户占比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54178-2EED-4555-B3EA-304EEDC1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rPr>
              <a:t>50.7%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B9157-B329-48E7-8825-775FCD96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09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rPr>
              <a:t>TOP5 品牌销量占比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718AE-672A-4280-9D7F-161BC359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rPr>
              <a:t>¥1,112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F6E13-4F8E-4C85-BB62-486AA9B2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09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rPr>
              <a:t>客单价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B576F-BA41-4CE0-92E4-F47B5685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rPr>
              <a:t>75,534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D1636-D665-4DA9-AA93-BBE4A979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9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rPr>
              <a:t>双11 单日 GMV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BCBB9-A053-4D6D-A6F2-E91A4178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9573E-A322-4DB8-A4F6-793923C2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鞋服是基本盘，跑步、篮球、健身、户外是主要运动场景。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春季户外、夏季跑步、秋冬冲锋衣与羽绒服形成季节波峰。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618 与双11 是两次集中爆发，适合做短窗口活动分析。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商品必须保留尺码、颜色、材质、适用人群、季节五个属性。</a:t>
            </a:r>
          </a:p>
        </p:txBody>
      </p:sp>
    </p:spTree>
    <p:extLst>
      <p:ext uri="{BB962C8B-B14F-4D97-AF65-F5344CB8AC3E}">
        <p14:creationId xmlns:p14="http://schemas.microsoft.com/office/powerpoint/2010/main" val="9505533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F45B9-B40B-49B4-A2A2-F684FF9C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rPr>
              <a:t>02 / 整体架构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DA721-C479-4DA4-BEC3-B75AE57B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五层数仓：从贴源到 ADS 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E0E04-A9F8-4C0E-826E-6C0A2820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5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94ED9-30F7-4116-A9B0-6BBA7EBCC8C3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952500"/>
                <a:gridCol w="8877300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E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183554"/>
                      </a:solidFill>
                      <a:prstDash val="solid"/>
                    </a:lnL>
                    <a:lnR w="9525">
                      <a:solidFill>
                        <a:srgbClr val="183554"/>
                      </a:solidFill>
                      <a:prstDash val="solid"/>
                    </a:lnR>
                    <a:lnT w="9525">
                      <a:solidFill>
                        <a:srgbClr val="183554"/>
                      </a:solidFill>
                      <a:prstDash val="solid"/>
                    </a:lnT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E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E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T w="9525">
                      <a:solidFill>
                        <a:srgbClr val="183554"/>
                      </a:solidFill>
                      <a:prstDash val="solid"/>
                    </a:lnT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E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E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T w="9525">
                      <a:solidFill>
                        <a:srgbClr val="183554"/>
                      </a:solidFill>
                      <a:prstDash val="solid"/>
                    </a:lnT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E1B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ODS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183554"/>
                      </a:solidFill>
                      <a:prstDash val="solid"/>
                    </a:lnL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用户、商品、订单、支付、退款、物流、评价、购物车、搜索日志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183554"/>
                      </a:solidFill>
                      <a:prstDash val="solid"/>
                    </a:lnL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815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815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用户、商品、分类、日期、地区、品牌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8152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DWD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183554"/>
                      </a:solidFill>
                      <a:prstDash val="solid"/>
                    </a:lnL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订单、明细、支付、退款、物流、评价、购物车、搜索、行为、库存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DWS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183554"/>
                      </a:solidFill>
                      <a:prstDash val="solid"/>
                    </a:lnL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815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815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用户5、流量3、商品5、地区4、营销1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8152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183554"/>
                      </a:solidFill>
                      <a:prstDash val="solid"/>
                    </a:lnL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GMV、地区、城市、品类、品牌、漏斗、RFM、库存、ML 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29249-511D-41FB-872F-1E559D3F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rPr>
              <a:t>本地演示：SQLite 全链路可跑通。实验环境：MySQL + Hive + DataX，DDL 与 42 个作业已生成。</a:t>
            </a:r>
          </a:p>
        </p:txBody>
      </p:sp>
    </p:spTree>
    <p:extLst>
      <p:ext uri="{BB962C8B-B14F-4D97-AF65-F5344CB8AC3E}">
        <p14:creationId xmlns:p14="http://schemas.microsoft.com/office/powerpoint/2010/main" val="18771521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3CE63-05EF-48BF-B2E4-C3AAA739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rPr>
              <a:t>03 / 实体关系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E24E2-0765-4C2A-ACA8-F7EE86B1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13 张 ODS 表的主键与外键关系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2BC84-0D8C-4553-9C16-0AC50140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5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E3C43-CAC0-4572-8E92-255CD8253D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58ca17fb54ce9"/>
          <a:stretch xmlns:a="http://schemas.openxmlformats.org/drawingml/2006/main"/>
        </p:blipFill>
        <p:spPr>
          <a:xfrm xmlns:a="http://schemas.openxmlformats.org/drawingml/2006/main">
            <a:off x="2258648" y="1619250"/>
            <a:ext cx="7674704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4FCD9-CE15-4B55-9A89-38EAAA46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rPr>
              <a:t>用户 1—N 订单；订单 1—N 明细/支付/退款/物流/评价；商品 1—N 明细/加购/评价。</a:t>
            </a:r>
          </a:p>
        </p:txBody>
      </p:sp>
    </p:spTree>
    <p:extLst>
      <p:ext uri="{BB962C8B-B14F-4D97-AF65-F5344CB8AC3E}">
        <p14:creationId xmlns:p14="http://schemas.microsoft.com/office/powerpoint/2010/main" val="8678855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045A4-A3AE-4F87-8B13-1D7098D0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rPr>
              <a:t>04 / 30 个核心指标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6A9A6-4CC6-4B7F-9B4D-5DB196BC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指标先定口径，再落到 DWS 与 ADS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78F81-8B29-4A6C-8D01-E77725C1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67379-A2A7-449C-8BC4-F8A5A209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29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rPr>
              <a:t>流量 8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rPr>
              <a:t>PV / UV / DAU / MAU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rPr>
              <a:t>访问深度 / 平均停留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rPr>
              <a:t>新用户占比 / 活跃留存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30FCB-FAED-4766-B66D-8489939E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619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rPr>
              <a:t>交易 10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rPr>
              <a:t>GMV / 订单数 / 支付订单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rPr>
              <a:t>客单价 / 支付率 / 复购率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rPr>
              <a:t>退货率 / 客单量 / 人均下单 / 大额占比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A520E-6006-453D-9CEE-989BFA49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337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50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0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用户 6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0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商品 4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0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营销 2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0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RFM 高价值 167 人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0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动销率 95.9%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0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大促转化率 53.7%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C963C-C73D-4673-A89C-E2AE5219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1C394-96DD-45FB-89BD-1B1DC203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GMV ¥2,135,906 · 支付订单 1,920 · 客单价 ¥1,112 · 支付率 98.2%</a:t>
            </a:r>
          </a:p>
        </p:txBody>
      </p:sp>
    </p:spTree>
    <p:extLst>
      <p:ext uri="{BB962C8B-B14F-4D97-AF65-F5344CB8AC3E}">
        <p14:creationId xmlns:p14="http://schemas.microsoft.com/office/powerpoint/2010/main" val="7633208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5CD4C-45B1-47D1-B9A3-BD3298C4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rPr>
              <a:t>05 / 机器学习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E9981-3EFF-46D3-A35C-D57101FE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三个模型：预测、流失、价值分层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9879A-7963-4FB8-AA43-88BA3D55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5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240C2-34F6-4549-B3CA-477AE50F5746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857500"/>
                <a:gridCol w="3238500"/>
                <a:gridCol w="2781300"/>
              </a:tblGrid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E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183554"/>
                      </a:solidFill>
                      <a:prstDash val="solid"/>
                    </a:lnL>
                    <a:lnR w="9525">
                      <a:solidFill>
                        <a:srgbClr val="183554"/>
                      </a:solidFill>
                      <a:prstDash val="solid"/>
                    </a:lnR>
                    <a:lnT w="9525">
                      <a:solidFill>
                        <a:srgbClr val="183554"/>
                      </a:solidFill>
                      <a:prstDash val="solid"/>
                    </a:lnT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E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E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T w="9525">
                      <a:solidFill>
                        <a:srgbClr val="183554"/>
                      </a:solidFill>
                      <a:prstDash val="solid"/>
                    </a:lnT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E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E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T w="9525">
                      <a:solidFill>
                        <a:srgbClr val="183554"/>
                      </a:solidFill>
                      <a:prstDash val="solid"/>
                    </a:lnT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E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E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T w="9525">
                      <a:solidFill>
                        <a:srgbClr val="183554"/>
                      </a:solidFill>
                      <a:prstDash val="solid"/>
                    </a:lnT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E1B3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销售预测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183554"/>
                      </a:solidFill>
                      <a:prstDash val="solid"/>
                    </a:lnL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LinearRegression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R² 0.778 / MAPE 40.3%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未来 14 天 GMV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流失预测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183554"/>
                      </a:solidFill>
                      <a:prstDash val="solid"/>
                    </a:lnL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815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LogisticRegression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815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F1 0.988 / Accuracy 98.7%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815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高风险用户 Top100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8152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183554"/>
                      </a:solidFill>
                      <a:prstDash val="solid"/>
                    </a:lnL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分位数打分 + 加权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五级分层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高价值用户 167 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85442-09D9-4CC0-9F6F-317FE4C6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35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4" indent="-14">
              <a:spcAft>
                <a:spcPts val="10"/>
              </a:spcAft>
              <a:buChar char="•"/>
              <a:defRPr sz="135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销售特征：星期、周末、618/双11、lag1/lag7、近7/30天均值。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35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流失特征：recency、frequency、monetary、退款次数、会员等级。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35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RFM：R/F/M 各打 1~5 分，综合分 = R×0.4 + F×0.3 + M×0.3。</a:t>
            </a:r>
          </a:p>
        </p:txBody>
      </p:sp>
    </p:spTree>
    <p:extLst>
      <p:ext uri="{BB962C8B-B14F-4D97-AF65-F5344CB8AC3E}">
        <p14:creationId xmlns:p14="http://schemas.microsoft.com/office/powerpoint/2010/main" val="14719947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9B3E8-7FD8-43E0-8F40-BE9E71BA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rPr>
              <a:t>06 / 经营大屏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0B6DB-599A-4E18-BADA-BCD349AD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12 个图表，30 秒自动刷新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BDE4C-6F24-4E34-B21F-43896FE7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5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B9630-3F37-4742-A0AB-C954A66689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586097dc34d89"/>
          <a:stretch xmlns:a="http://schemas.openxmlformats.org/drawingml/2006/main"/>
        </p:blipFill>
        <p:spPr>
          <a:xfrm xmlns:a="http://schemas.openxmlformats.org/drawingml/2006/main">
            <a:off x="1862667" y="1571625"/>
            <a:ext cx="8466667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96FE0-4BA0-434A-933E-E39DFD47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8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rPr>
              <a:t>指标卡 / 趋势+预测 / 品类 / 品牌 / 动销 / 滞销 / 地图 / 漏斗 / RFM / 留存 / 大促 / 流失</a:t>
            </a:r>
          </a:p>
        </p:txBody>
      </p:sp>
    </p:spTree>
    <p:extLst>
      <p:ext uri="{BB962C8B-B14F-4D97-AF65-F5344CB8AC3E}">
        <p14:creationId xmlns:p14="http://schemas.microsoft.com/office/powerpoint/2010/main" val="553735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D0233-029B-47A8-9FEA-4BA37DB6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rPr>
              <a:t>07 / 全链路验证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20324-69CF-4848-94ED-572E684B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从数据到接口，逐层留下可复查证据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77ACD-BA78-4B8B-BA66-554D2490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5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4AE5D-CDA9-4B11-9DEE-00D3DC53DABE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286000"/>
                <a:gridCol w="6019800"/>
              </a:tblGrid>
              <a:tr h="476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E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183554"/>
                      </a:solidFill>
                      <a:prstDash val="solid"/>
                    </a:lnL>
                    <a:lnR w="9525">
                      <a:solidFill>
                        <a:srgbClr val="183554"/>
                      </a:solidFill>
                      <a:prstDash val="solid"/>
                    </a:lnR>
                    <a:lnT w="9525">
                      <a:solidFill>
                        <a:srgbClr val="183554"/>
                      </a:solidFill>
                      <a:prstDash val="solid"/>
                    </a:lnT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E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E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T w="9525">
                      <a:solidFill>
                        <a:srgbClr val="183554"/>
                      </a:solidFill>
                      <a:prstDash val="solid"/>
                    </a:lnT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E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8E1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T w="9525">
                      <a:solidFill>
                        <a:srgbClr val="183554"/>
                      </a:solidFill>
                      <a:prstDash val="solid"/>
                    </a:lnT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E1B3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ODS 数据量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183554"/>
                      </a:solidFill>
                      <a:prstDash val="solid"/>
                    </a:lnL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24,935 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 张 CSV / MySQL / Hive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DWD 清洗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183554"/>
                      </a:solidFill>
                      <a:prstDash val="solid"/>
                    </a:lnL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815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2%~10% 丢弃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815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质量报告 + 外键检查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8152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交叉验证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183554"/>
                      </a:solidFill>
                      <a:prstDash val="solid"/>
                    </a:lnL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明细 / 分类 / 地区 / 品牌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183554"/>
                      </a:solidFill>
                      <a:prstDash val="solid"/>
                    </a:lnL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815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/ 20 返回 code=0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815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Flask blueprints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8152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183554"/>
                      </a:solidFill>
                      <a:prstDash val="solid"/>
                    </a:lnL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/ 12 图表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AF6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ECharts + API 驱动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183554"/>
                      </a:solidFill>
                      <a:prstDash val="solid"/>
                    </a:lnR>
                    <a:lnB w="9525">
                      <a:solidFill>
                        <a:srgbClr val="183554"/>
                      </a:solidFill>
                      <a:prstDash val="solid"/>
                    </a:lnB>
                    <a:solidFill>
                      <a:srgbClr val="07101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380DE-47EC-4476-A46E-D7C38DEA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0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已知限制：本地演示使用 SQLite；MySQL/Hive/DataX 已交付 DDL 与配置，需在实验虚拟机执行。流失模型指标偏高，原因是标签与 recency 强相关，答辩时主动说明。</a:t>
            </a:r>
          </a:p>
        </p:txBody>
      </p:sp>
    </p:spTree>
    <p:extLst>
      <p:ext uri="{BB962C8B-B14F-4D97-AF65-F5344CB8AC3E}">
        <p14:creationId xmlns:p14="http://schemas.microsoft.com/office/powerpoint/2010/main" val="485359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D98AE-E565-4E67-A384-47B46CCD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rPr>
              <a:t>08 / 交付清单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8927D-40BD-4933-B509-12837C8B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代码、数据、模型、文档与答辩材料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C5367-3FE2-4AC0-8B2C-09828D59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67C1E-396B-4968-984B-3C7D018C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143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rPr>
              <a:t>13 张 ODS CSV，24,935 行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rPr>
              <a:t>6 DIM / 10 DWD / 18 DWS / 16 ADS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rPr>
              <a:t>MySQL + Hive DDL，42 个 DataX 作业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rPr>
              <a:t>pipeline.ps1/.bat/.sh 一键复现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25A75-FB82-4B38-93C1-D2BA0638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143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rPr>
              <a:t>3 个 ML 模型 + 3 份评估报告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rPr>
              <a:t>20 个 /api/t2/* 接口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rPr>
              <a:t>12 图表大屏 + README 截图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9DFB6B"/>
                </a:solidFill>
                <a:latin typeface="Microsoft YaHei"/>
                <a:ea typeface="Microsoft YaHei"/>
                <a:cs typeface="Microsoft YaHei"/>
              </a:rPr>
              <a:t>day1~4 过程文档 + 答辩 PPT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75C1B-337E-4417-9352-48AE02B5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E7BE2-EBE8-4998-A0A2-6DEFA3BE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rPr>
              <a:t>仓库：jd-sports-analytics  ·  分支 main  ·  版本 tag v1.0.0</a:t>
            </a:r>
          </a:p>
        </p:txBody>
      </p:sp>
    </p:spTree>
    <p:extLst>
      <p:ext uri="{BB962C8B-B14F-4D97-AF65-F5344CB8AC3E}">
        <p14:creationId xmlns:p14="http://schemas.microsoft.com/office/powerpoint/2010/main" val="1571515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E0405-4682-41D6-AAED-A747E7C5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E9AB8"/>
                </a:solidFill>
                <a:latin typeface="Microsoft YaHei"/>
                <a:ea typeface="Microsoft YaHei"/>
                <a:cs typeface="Microsoft YaHei"/>
              </a:rPr>
              <a:t>09 / 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264D4-AF28-448D-BACB-300EEC26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把一次实训做成可复现的分析产品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2324C-ED01-4AF6-9179-3BE3FA3C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242F4-1753-4E6A-8AA3-19CFA51E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数据能对上、指标能解释、模型能落地、大屏能演示。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A71FF-33AD-4869-B7E4-5EB62292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金额分摊与四路汇总，解决“数对不上”的根本问题。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短窗口大促建模，让 618/双11 峰值可解释、可预测。</a:t>
            </a:r>
          </a:p>
          <a:p xmlns:a="http://schemas.openxmlformats.org/drawingml/2006/main">
            <a:pPr marL="24" indent="-14">
              <a:spcAft>
                <a:spcPts val="10"/>
              </a:spcAft>
              <a:buChar char="•"/>
              <a:def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本地 SQLite + MySQL/Hive DDL 双轨，保证随时能跑。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9AFF2-4BB0-4CC2-80B8-5193BA1E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9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E1FF"/>
                </a:solidFill>
                <a:latin typeface="Microsoft YaHei"/>
                <a:ea typeface="Microsoft YaHei"/>
                <a:cs typeface="Microsoft YaHei"/>
              </a:rPr>
              <a:t>谢谢老师，欢迎提问。</a:t>
            </a:r>
          </a:p>
        </p:txBody>
      </p:sp>
    </p:spTree>
    <p:extLst>
      <p:ext uri="{BB962C8B-B14F-4D97-AF65-F5344CB8AC3E}">
        <p14:creationId xmlns:p14="http://schemas.microsoft.com/office/powerpoint/2010/main" val="1491880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2026-10-20T07:40:45.5670000Z</dcterms:created>
  <dcterms:modified xsi:type="dcterms:W3CDTF">2026-10-20T07:40:45.5670000Z</dcterms:modified>
</coreProperties>
</file>